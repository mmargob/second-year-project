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2nFzB+YYdBTUbWqI16GcN7Nr8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29b526e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529b526e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529b526e3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529b526e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529b526e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529b526e3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529b526e3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529b526e3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529b526e3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529b526e3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529b526e3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529b526e3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29b526e3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529b526e3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529b526e3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29b526e3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529b526e3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529b526e3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529b526e3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529b526e3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d529b526e3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529b526e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529b526e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529b526e3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529b526e3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529b526e3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529b526e3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529b526e3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529b526e3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529b526e3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529b526e3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529b526e3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529b526e3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529b526e3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529b526e3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d529b526e3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640080"/>
            <a:ext cx="109728" cy="2651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20040" y="68580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DID GAZA PROTESTS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20040" y="141732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COST HARRIS THE 2024 ELECTION?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" y="2331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 Three-Part Empirical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" y="3611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Applied Political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" y="4160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By Maxx Margob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CLAIM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234440"/>
            <a:ext cx="8229600" cy="21945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1234440"/>
            <a:ext cx="91440" cy="21945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77240" y="137160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r>
              <a:rPr i="1" lang="en-US" sz="24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DNC's own data found [Gaza policy] was,</a:t>
            </a:r>
            <a:endParaRPr i="1" sz="2400">
              <a:solidFill>
                <a:srgbClr val="1B2A4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i="1" lang="en-US" sz="24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in their words, a 'net-negative' in the 2024 election.</a:t>
            </a:r>
            <a:r>
              <a:rPr b="0" i="1" lang="en-US" sz="2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77240" y="27432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Axios, February 22, 2026 (citing DNC autopsy)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Evidence cited: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100k+ uncommitted votes in Michigan primary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Campus protest movement visibility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Arab American community anger in Dearborn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THREE-PART ANALYTICAL APPROACH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20040" y="1188720"/>
            <a:ext cx="2651760" cy="3474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320040" y="12801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20040" y="20116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County-Level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94360" y="2514600"/>
            <a:ext cx="210312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265176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3,11</a:t>
            </a:r>
            <a:r>
              <a:rPr lang="en-US" sz="13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 counties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Protest × swing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Robustness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246120" y="1188720"/>
            <a:ext cx="2651760" cy="347472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246120" y="12801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46120" y="20116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ANES 2024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520440" y="2514600"/>
            <a:ext cx="210312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383280" y="265176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 2,245 Biden voters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Gaza attitude predictors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Survey-weighted logit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172200" y="1188720"/>
            <a:ext cx="2651760" cy="347472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172200" y="12801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172200" y="20116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ANES Panel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46520" y="2514600"/>
            <a:ext cx="210312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309360" y="265176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Same voters 2020–2024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Attitude change scores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Longitudinal logit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20040" y="1143000"/>
            <a:ext cx="73152" cy="6858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48640" y="12070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MIT Election Data &amp; Science 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206240" y="12070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County-level presidential returns 20</a:t>
            </a:r>
            <a:r>
              <a:rPr lang="en-US" sz="13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–2024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0040" y="192024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20040" y="1920240"/>
            <a:ext cx="73152" cy="6858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48640" y="198424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Crowd Counting Consortium (CCC)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206240" y="19842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Gaza protests Oct 2023 – Nov 2024, n = 4</a:t>
            </a:r>
            <a:r>
              <a:rPr lang="en-US" sz="13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 counties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20040" y="2697480"/>
            <a:ext cx="850392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20040" y="2697480"/>
            <a:ext cx="73152" cy="6858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48640" y="27614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ACS 2024 (2021 for CT)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206240" y="276148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Education, race, income, age demographics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20040" y="347472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20040" y="3474720"/>
            <a:ext cx="73152" cy="6858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48640" y="353872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ANES 2024 Time Series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206240" y="35387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N = 2,0</a:t>
            </a:r>
            <a:r>
              <a:rPr lang="en-US" sz="13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73</a:t>
            </a: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 Biden 2020 voters, complex survey weights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0040" y="4251960"/>
            <a:ext cx="73152" cy="6858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48640" y="43159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ANES 2016–2020–2024 Panel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206240" y="4315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N = 2,839 tracked respondents across 3 elections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4691880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Alaska excluded (incompatible geographies). Connecticut uses 2021 ACS.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PART 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County-Level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3,11</a:t>
            </a:r>
            <a:r>
              <a:rPr i="1" lang="en-US" sz="16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1" lang="en-US" sz="16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 Counties  ·  Protest Intensity  ·  Electoral Swing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WHERE DID PROTESTS HAPPEN?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20040" y="1097280"/>
            <a:ext cx="6217920" cy="338328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20040" y="237744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[INSERT: Protest intensity map — log protests per 100k by county]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766560" y="1097280"/>
            <a:ext cx="20574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766560" y="111556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r>
              <a:rPr b="1" lang="en-US" sz="3000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90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766560" y="162763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Counties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any protests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766560" y="2286000"/>
            <a:ext cx="20574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766560" y="230428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15.</a:t>
            </a:r>
            <a:r>
              <a:rPr b="1" lang="en-US" sz="3000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r>
              <a:rPr b="1" i="0" lang="en-US" sz="3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766560" y="281635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of all U.S.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counties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766560" y="3474720"/>
            <a:ext cx="20574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766560" y="349300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84.</a:t>
            </a:r>
            <a:r>
              <a:rPr b="1" lang="en-US" sz="3000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30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766560" y="4005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had ZERO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protest 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1122150"/>
            <a:ext cx="6217902" cy="338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d529b526e3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HARRIS LOST GROUND ALMOST EVERYWHERE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0040" y="1097280"/>
            <a:ext cx="8503920" cy="338328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20090" y="4754865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The swing was national and broad — not concentrated in protest hotspots.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525" y="1203650"/>
            <a:ext cx="6718049" cy="3172739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d529b526e3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2873" cy="5143501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MORE PROTESTS ≠ BIGGER LOSSES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0040" y="1097280"/>
            <a:ext cx="8503920" cy="347472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20040" y="246888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[INSERT: Scatter plot — log_protests (x) vs dem_shift_24_20 (y)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With flat trend line and annotations]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Among 479 counties with any protests. Flat line = protest intensity had little effect on swing.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82588"/>
            <a:ext cx="8229601" cy="3304101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d529b526e3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COUNTY REGRESSION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320040" y="1097280"/>
            <a:ext cx="91440" cy="356616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94360" y="1188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Key Findings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94360" y="169164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Protest effect near zero in swing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No dose-response across Low/Med/High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Effect vanishes in swing states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Hispanic/Black share stronger predictors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663440" y="1097280"/>
            <a:ext cx="4160520" cy="35661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4663440" y="2468880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9" title="Screenshot 2026-04-11 at 7.1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450" y="1097275"/>
            <a:ext cx="4216950" cy="352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d529b526e3_0_23" title="Screenshot 2026-04-11 at 7.1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6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DOSE-RESPONSE: ROBUSTNESS CHECK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20040" y="1097280"/>
            <a:ext cx="5943600" cy="35661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20040" y="246888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492240" y="1097280"/>
            <a:ext cx="2331720" cy="35661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6583680" y="1371600"/>
            <a:ext cx="21488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If protests caused losses, higher intensity → larger swing.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All three categories are nearly identical.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The pattern is flat.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25" y="1214500"/>
            <a:ext cx="5705851" cy="3331725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d529b526e3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d529b526e3_0_99" title="Screenshot 2026-04-11 at 6.32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PART TWO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Individual-Level: ANES 2024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Did Gaza attitudes predict who defected from Harris?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WHO WERE THE DEFECTORS?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320040" y="1188720"/>
            <a:ext cx="2651760" cy="14630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320040" y="123444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2,</a:t>
            </a:r>
            <a:r>
              <a:rPr b="1" lang="en-US" sz="4200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245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20040" y="201168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2020 Biden voters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in ANES sample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246120" y="1188720"/>
            <a:ext cx="2651760" cy="14630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3246120" y="123444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181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3246120" y="201168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Defected from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Harris in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172200" y="1188720"/>
            <a:ext cx="2651760" cy="146304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172200" y="123444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8.1</a:t>
            </a:r>
            <a:r>
              <a:rPr b="1" i="0" lang="en-US" sz="42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172200" y="201168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Defection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320040" y="288036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Defection breakdown (where did they go?):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20040" y="3291840"/>
            <a:ext cx="8503920" cy="155448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320040" y="384048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2" title="dest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3291850"/>
            <a:ext cx="8503900" cy="155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d529b526e3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GAZA ATTITUDES DID NOT PREDICT DEFECTION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320040" y="1097280"/>
            <a:ext cx="8503920" cy="3657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320040" y="2468880"/>
            <a:ext cx="850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Bars crossing the zero line = no statistically significant effect on defection.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9375"/>
            <a:ext cx="8229601" cy="3433437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d529b526e3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3d529b526e3_0_61" title="Screenshot 2026-04-11 at 5.53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PART THREE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Longitudinal Panel Analysis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Tracking the same voters across 2020 and 2024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CHANGED BETWEEN 2020 AND 2024?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320040" y="1097280"/>
            <a:ext cx="5669280" cy="35661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320040" y="228600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217920" y="1097280"/>
            <a:ext cx="2606040" cy="35661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6263640" y="12344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Critical 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6263640" y="1645920"/>
            <a:ext cx="237744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6263640" y="1783080"/>
            <a:ext cx="2468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These attitude shifts were accumulating across 2020–2024.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Gaza began Oct 2023.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The forces driving defection predate the conflict.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50" y="1234450"/>
            <a:ext cx="4975800" cy="329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d529b526e3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d529b526e3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1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g3d529b526e3_0_67" title="Screenshot 2026-04-11 at 6.05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PANEL REGRESSION: WHAT PREDICTED DEFECTION?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320040" y="1097280"/>
            <a:ext cx="4114800" cy="13716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365760" y="1143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SIGNIFICANT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57200" y="15727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Economy perceived as worsening (p&lt;.001)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Party ID shift toward Republican (p=.002)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Abortion views shift more restrictive (p=.004)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709160" y="1097280"/>
            <a:ext cx="4114800" cy="1371600"/>
          </a:xfrm>
          <a:prstGeom prst="rect">
            <a:avLst/>
          </a:prstGeom>
          <a:solidFill>
            <a:srgbClr val="8FA3B1"/>
          </a:solidFill>
          <a:ln cap="flat" cmpd="sng" w="12700">
            <a:solidFill>
              <a:srgbClr val="8FA3B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 SIGNIFICANT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846320" y="15727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Ideology change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Immigration attitudes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 financial situation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320040" y="2697480"/>
            <a:ext cx="8503920" cy="17373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16"/>
          <p:cNvCxnSpPr/>
          <p:nvPr/>
        </p:nvCxnSpPr>
        <p:spPr>
          <a:xfrm>
            <a:off x="457200" y="3429000"/>
            <a:ext cx="8220300" cy="14100"/>
          </a:xfrm>
          <a:prstGeom prst="straightConnector1">
            <a:avLst/>
          </a:prstGeom>
          <a:noFill/>
          <a:ln cap="flat" cmpd="sng" w="254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414735" y="3328410"/>
            <a:ext cx="201300" cy="201300"/>
          </a:xfrm>
          <a:prstGeom prst="ellipse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10" y="3566160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Jan 2020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60" y="2811765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Wave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2029968" y="3319272"/>
            <a:ext cx="201168" cy="201168"/>
          </a:xfrm>
          <a:prstGeom prst="ellipse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1572768" y="3566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Nov 2020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1572768" y="28346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Biden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Wins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3694176" y="3319272"/>
            <a:ext cx="201168" cy="201168"/>
          </a:xfrm>
          <a:prstGeom prst="ellipse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3236976" y="3566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 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3236976" y="28346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COVID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5358384" y="3319272"/>
            <a:ext cx="201168" cy="201168"/>
          </a:xfrm>
          <a:prstGeom prst="ellipse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4901184" y="3566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Late </a:t>
            </a: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n-US" sz="9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–23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901184" y="28346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Inflation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022592" y="3319272"/>
            <a:ext cx="201168" cy="201168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6565392" y="3566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Oct 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6565392" y="28346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Gaza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Begins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8494775" y="3328397"/>
            <a:ext cx="201300" cy="201300"/>
          </a:xfrm>
          <a:prstGeom prst="ellipse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7969713" y="3520460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Nov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8046725" y="2857428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Harris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Economic pessimism was building well before Gaza began.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ACTUALLY DROVE HARRIS'S LOSS?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320040" y="1188720"/>
            <a:ext cx="73152" cy="173736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502920" y="13258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Char char="●"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Economic Dissatisfaction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02920" y="18745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Consistent predictor at county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and individual level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4709160" y="1188720"/>
            <a:ext cx="73152" cy="173736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4892040" y="13258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Char char="●"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Partisan Dealignment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4892040" y="18745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Weak Democrats defected;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strong Democrats stayed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320040" y="315468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320040" y="3154680"/>
            <a:ext cx="73152" cy="173736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502920" y="32918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Char char="●"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Hispanic Vote Erosion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502920" y="384048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Strongest county-level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predictor of swing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4709160" y="3154680"/>
            <a:ext cx="73152" cy="173736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892040" y="32918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Char char="●"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Abortion Realignment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892040" y="384048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Some Biden voters were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never fully aligned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365760" y="201168"/>
            <a:ext cx="8229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ACTION ITEMS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320040" y="1143000"/>
            <a:ext cx="2651700" cy="4572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320040" y="1179576"/>
            <a:ext cx="265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Democratic Campaigns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320040" y="1600200"/>
            <a:ext cx="2651700" cy="31089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457200" y="1719072"/>
            <a:ext cx="2423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Stop relitigating Gaza narrative</a:t>
            </a:r>
            <a:endParaRPr b="0" i="0" sz="1300" u="none" cap="none" strike="noStrike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Focus on economic messaging early</a:t>
            </a:r>
            <a:endParaRPr b="0" i="0" sz="1300" u="none" cap="none" strike="noStrike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Invest in Hispanic coalition retention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3246120" y="1143000"/>
            <a:ext cx="2651700" cy="45720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3246120" y="1179576"/>
            <a:ext cx="265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Political Analysts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3246120" y="1600200"/>
            <a:ext cx="2651700" cy="31089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3383280" y="1719072"/>
            <a:ext cx="2423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Apply empirical scrutiny to protest claims</a:t>
            </a:r>
            <a:endParaRPr b="0" i="0" sz="1300" u="none" cap="none" strike="noStrike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Visible events ≠ causal mechanisms</a:t>
            </a:r>
            <a:endParaRPr b="0" i="0" sz="1300" u="none" cap="none" strike="noStrike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6172200" y="1143000"/>
            <a:ext cx="2651700" cy="457200"/>
          </a:xfrm>
          <a:prstGeom prst="rect">
            <a:avLst/>
          </a:prstGeom>
          <a:solidFill>
            <a:srgbClr val="2166AC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6172200" y="1179576"/>
            <a:ext cx="265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the DNC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172200" y="1600200"/>
            <a:ext cx="2651700" cy="31089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6309360" y="1719072"/>
            <a:ext cx="2423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Release the full autopsy report</a:t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Hispanic erosion is the real structural problem</a:t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Economic credibility must come first</a:t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E40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data does not support the claim.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320040" y="1920240"/>
            <a:ext cx="2651760" cy="164592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320040" y="1965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County Level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685800" y="2377440"/>
            <a:ext cx="192024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320040" y="246888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protest effect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swing states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3246120" y="1920240"/>
            <a:ext cx="2651760" cy="164592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3246120" y="1965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ANES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3611880" y="2377440"/>
            <a:ext cx="192024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3246120" y="246888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Gaza attitudes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significant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6172200" y="1920240"/>
            <a:ext cx="2651760" cy="164592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6172200" y="1965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ANES Panel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6537960" y="2377440"/>
            <a:ext cx="192024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6172200" y="246888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Defection forces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predated Gaza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320040" y="374904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Harris lost because of economic dissatisfaction, partisan dealignment,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and coalition erosion</a:t>
            </a:r>
            <a:r>
              <a:rPr i="1" lang="en-US" sz="16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6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 not because of Gaza protests.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2026-04-09T20:02:20Z</dcterms:created>
  <dc:creator>PptxGenJS</dc:creator>
</cp:coreProperties>
</file>